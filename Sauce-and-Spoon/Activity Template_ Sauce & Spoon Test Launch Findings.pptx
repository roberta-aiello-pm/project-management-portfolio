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be8aa0f6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be8aa0f6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be8aa0f6e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be8aa0f6e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be8aa0f6e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be8aa0f6e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be8aa0f6e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be8aa0f6e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be8aa0f6e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be8aa0f6e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grpSp>
        <p:nvGrpSpPr>
          <p:cNvPr id="54" name="Google Shape;54;p13"/>
          <p:cNvGrpSpPr/>
          <p:nvPr/>
        </p:nvGrpSpPr>
        <p:grpSpPr>
          <a:xfrm>
            <a:off x="78750" y="75450"/>
            <a:ext cx="8986500" cy="4992600"/>
            <a:chOff x="78750" y="75450"/>
            <a:chExt cx="8986500" cy="4992600"/>
          </a:xfrm>
        </p:grpSpPr>
        <p:sp>
          <p:nvSpPr>
            <p:cNvPr id="55" name="Google Shape;55;p13"/>
            <p:cNvSpPr/>
            <p:nvPr/>
          </p:nvSpPr>
          <p:spPr>
            <a:xfrm>
              <a:off x="78750" y="75450"/>
              <a:ext cx="8986500" cy="4992600"/>
            </a:xfrm>
            <a:prstGeom prst="rect">
              <a:avLst/>
            </a:prstGeom>
            <a:noFill/>
            <a:ln cap="flat" cmpd="sng" w="76200">
              <a:solidFill>
                <a:srgbClr val="0C71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193800" y="184950"/>
              <a:ext cx="8756400" cy="4773600"/>
            </a:xfrm>
            <a:prstGeom prst="rect">
              <a:avLst/>
            </a:prstGeom>
            <a:noFill/>
            <a:ln cap="flat" cmpd="sng" w="19050">
              <a:solidFill>
                <a:srgbClr val="0C71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13"/>
          <p:cNvSpPr txBox="1"/>
          <p:nvPr>
            <p:ph type="ctrTitle"/>
          </p:nvPr>
        </p:nvSpPr>
        <p:spPr>
          <a:xfrm>
            <a:off x="311700" y="2839025"/>
            <a:ext cx="8520600" cy="1443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4200">
                <a:solidFill>
                  <a:srgbClr val="0C7182"/>
                </a:solidFill>
              </a:rPr>
              <a:t>Tablet pilot Findings </a:t>
            </a:r>
            <a:endParaRPr b="1" sz="4200">
              <a:solidFill>
                <a:srgbClr val="0C7182"/>
              </a:solidFill>
            </a:endParaRPr>
          </a:p>
        </p:txBody>
      </p:sp>
      <p:pic>
        <p:nvPicPr>
          <p:cNvPr id="58" name="Google Shape;58;p13"/>
          <p:cNvPicPr preferRelativeResize="0"/>
          <p:nvPr/>
        </p:nvPicPr>
        <p:blipFill>
          <a:blip r:embed="rId3">
            <a:alphaModFix/>
          </a:blip>
          <a:stretch>
            <a:fillRect/>
          </a:stretch>
        </p:blipFill>
        <p:spPr>
          <a:xfrm>
            <a:off x="3211881" y="332600"/>
            <a:ext cx="2720225" cy="2720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p:nvPr/>
        </p:nvSpPr>
        <p:spPr>
          <a:xfrm>
            <a:off x="78750" y="75450"/>
            <a:ext cx="8986500" cy="4992600"/>
          </a:xfrm>
          <a:prstGeom prst="rect">
            <a:avLst/>
          </a:prstGeom>
          <a:noFill/>
          <a:ln cap="flat" cmpd="sng" w="76200">
            <a:solidFill>
              <a:srgbClr val="0C71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txBox="1"/>
          <p:nvPr>
            <p:ph idx="1" type="subTitle"/>
          </p:nvPr>
        </p:nvSpPr>
        <p:spPr>
          <a:xfrm>
            <a:off x="311700" y="203250"/>
            <a:ext cx="8520600" cy="432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In order to evaluate the tablet launch, we asked to our customers to complete a survey on the tablet and their experience at the end of their visit. </a:t>
            </a:r>
            <a:endParaRPr i="1"/>
          </a:p>
          <a:p>
            <a:pPr indent="0" lvl="0" marL="0" rtl="0" algn="l">
              <a:spcBef>
                <a:spcPts val="0"/>
              </a:spcBef>
              <a:spcAft>
                <a:spcPts val="0"/>
              </a:spcAft>
              <a:buNone/>
            </a:pPr>
            <a:r>
              <a:rPr i="1" lang="en"/>
              <a:t>I will show the overall outcomes and what we still have to improve for the next tablet rollout project. </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p:nvPr/>
        </p:nvSpPr>
        <p:spPr>
          <a:xfrm>
            <a:off x="78750" y="75450"/>
            <a:ext cx="8986500" cy="4992600"/>
          </a:xfrm>
          <a:prstGeom prst="rect">
            <a:avLst/>
          </a:prstGeom>
          <a:noFill/>
          <a:ln cap="flat" cmpd="sng" w="76200">
            <a:solidFill>
              <a:srgbClr val="0C71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txBox="1"/>
          <p:nvPr>
            <p:ph idx="1" type="subTitle"/>
          </p:nvPr>
        </p:nvSpPr>
        <p:spPr>
          <a:xfrm>
            <a:off x="311700" y="203250"/>
            <a:ext cx="8520600" cy="458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The overall project went pretty well. We do have to </a:t>
            </a:r>
            <a:r>
              <a:rPr i="1" lang="en"/>
              <a:t>increase our customer satisfactions working upon some issues we had in the dining experience as tablets gets freeze during the service several times, and some customer weren’t planning on paying by card. </a:t>
            </a:r>
            <a:endParaRPr i="1"/>
          </a:p>
          <a:p>
            <a:pPr indent="0" lvl="0" marL="0" rtl="0" algn="l">
              <a:spcBef>
                <a:spcPts val="0"/>
              </a:spcBef>
              <a:spcAft>
                <a:spcPts val="0"/>
              </a:spcAft>
              <a:buNone/>
            </a:pPr>
            <a:r>
              <a:t/>
            </a:r>
            <a:endParaRPr i="1"/>
          </a:p>
          <a:p>
            <a:pPr indent="0" lvl="0" marL="0" rtl="0" algn="l">
              <a:spcBef>
                <a:spcPts val="0"/>
              </a:spcBef>
              <a:spcAft>
                <a:spcPts val="0"/>
              </a:spcAft>
              <a:buNone/>
            </a:pPr>
            <a:r>
              <a:rPr i="1" lang="en"/>
              <a:t>On the everage, I might say that 72% of our guests rated their experience as either 4 or 5 (GREAT)</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p:nvPr/>
        </p:nvSpPr>
        <p:spPr>
          <a:xfrm>
            <a:off x="78750" y="75450"/>
            <a:ext cx="8986500" cy="4992600"/>
          </a:xfrm>
          <a:prstGeom prst="rect">
            <a:avLst/>
          </a:prstGeom>
          <a:noFill/>
          <a:ln cap="flat" cmpd="sng" w="76200">
            <a:solidFill>
              <a:srgbClr val="0C71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6"/>
          <p:cNvSpPr txBox="1"/>
          <p:nvPr>
            <p:ph idx="1" type="subTitle"/>
          </p:nvPr>
        </p:nvSpPr>
        <p:spPr>
          <a:xfrm>
            <a:off x="311700" y="203250"/>
            <a:ext cx="8520600" cy="47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Findings:</a:t>
            </a:r>
            <a:endParaRPr i="1"/>
          </a:p>
          <a:p>
            <a:pPr indent="-406400" lvl="0" marL="457200" rtl="0" algn="l">
              <a:spcBef>
                <a:spcPts val="0"/>
              </a:spcBef>
              <a:spcAft>
                <a:spcPts val="0"/>
              </a:spcAft>
              <a:buSzPts val="2800"/>
              <a:buChar char="●"/>
            </a:pPr>
            <a:r>
              <a:rPr i="1" lang="en"/>
              <a:t>32% guests used tablet for ordering</a:t>
            </a:r>
            <a:endParaRPr i="1"/>
          </a:p>
          <a:p>
            <a:pPr indent="-406400" lvl="0" marL="457200" rtl="0" algn="l">
              <a:spcBef>
                <a:spcPts val="0"/>
              </a:spcBef>
              <a:spcAft>
                <a:spcPts val="0"/>
              </a:spcAft>
              <a:buSzPts val="2800"/>
              <a:buChar char="●"/>
            </a:pPr>
            <a:r>
              <a:rPr i="1" lang="en"/>
              <a:t>40% guests choosed on a overall good experience </a:t>
            </a:r>
            <a:endParaRPr i="1"/>
          </a:p>
          <a:p>
            <a:pPr indent="-406400" lvl="0" marL="457200" rtl="0" algn="l">
              <a:spcBef>
                <a:spcPts val="0"/>
              </a:spcBef>
              <a:spcAft>
                <a:spcPts val="0"/>
              </a:spcAft>
              <a:buSzPts val="2800"/>
              <a:buChar char="●"/>
            </a:pPr>
            <a:r>
              <a:rPr i="1" lang="en"/>
              <a:t>76% of guests gudge our weieter as very well staff for </a:t>
            </a:r>
            <a:r>
              <a:rPr i="1" lang="en"/>
              <a:t>introducing</a:t>
            </a:r>
            <a:r>
              <a:rPr i="1" lang="en"/>
              <a:t> how to use tablets </a:t>
            </a:r>
            <a:endParaRPr i="1"/>
          </a:p>
          <a:p>
            <a:pPr indent="-406400" lvl="0" marL="457200" rtl="0" algn="l">
              <a:spcBef>
                <a:spcPts val="0"/>
              </a:spcBef>
              <a:spcAft>
                <a:spcPts val="0"/>
              </a:spcAft>
              <a:buSzPts val="2800"/>
              <a:buChar char="●"/>
            </a:pPr>
            <a:r>
              <a:rPr i="1" lang="en"/>
              <a:t>30% guests has been neutral upon the tablet’s use </a:t>
            </a:r>
            <a:endParaRPr i="1"/>
          </a:p>
          <a:p>
            <a:pPr indent="-406400" lvl="0" marL="457200" rtl="0" algn="l">
              <a:spcBef>
                <a:spcPts val="0"/>
              </a:spcBef>
              <a:spcAft>
                <a:spcPts val="0"/>
              </a:spcAft>
              <a:buSzPts val="2800"/>
              <a:buChar char="●"/>
            </a:pPr>
            <a:r>
              <a:rPr i="1" lang="en"/>
              <a:t>28% of guests described tablet as easy to use </a:t>
            </a:r>
            <a:endParaRPr i="1"/>
          </a:p>
          <a:p>
            <a:pPr indent="-406400" lvl="0" marL="457200" rtl="0" algn="l">
              <a:spcBef>
                <a:spcPts val="0"/>
              </a:spcBef>
              <a:spcAft>
                <a:spcPts val="0"/>
              </a:spcAft>
              <a:buSzPts val="2800"/>
              <a:buChar char="●"/>
            </a:pPr>
            <a:r>
              <a:rPr i="1" lang="en"/>
              <a:t>54% of guests choosed a waiting average time for a table of 15 minutes </a:t>
            </a:r>
            <a:endParaRPr i="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p:nvPr/>
        </p:nvSpPr>
        <p:spPr>
          <a:xfrm>
            <a:off x="78750" y="75450"/>
            <a:ext cx="8986500" cy="4992600"/>
          </a:xfrm>
          <a:prstGeom prst="rect">
            <a:avLst/>
          </a:prstGeom>
          <a:noFill/>
          <a:ln cap="flat" cmpd="sng" w="76200">
            <a:solidFill>
              <a:srgbClr val="0C71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7"/>
          <p:cNvSpPr txBox="1"/>
          <p:nvPr>
            <p:ph idx="1" type="subTitle"/>
          </p:nvPr>
        </p:nvSpPr>
        <p:spPr>
          <a:xfrm>
            <a:off x="311700" y="203250"/>
            <a:ext cx="8520600" cy="47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First Next Step:</a:t>
            </a:r>
            <a:endParaRPr i="1"/>
          </a:p>
          <a:p>
            <a:pPr indent="0" lvl="0" marL="0" rtl="0" algn="l">
              <a:spcBef>
                <a:spcPts val="0"/>
              </a:spcBef>
              <a:spcAft>
                <a:spcPts val="0"/>
              </a:spcAft>
              <a:buNone/>
            </a:pPr>
            <a:r>
              <a:rPr i="1" lang="en"/>
              <a:t>Improving the tablet implementations with a take note on the side. </a:t>
            </a:r>
            <a:endParaRPr i="1"/>
          </a:p>
          <a:p>
            <a:pPr indent="0" lvl="0" marL="0" rtl="0" algn="l">
              <a:spcBef>
                <a:spcPts val="0"/>
              </a:spcBef>
              <a:spcAft>
                <a:spcPts val="0"/>
              </a:spcAft>
              <a:buNone/>
            </a:pPr>
            <a:r>
              <a:rPr i="1" lang="en"/>
              <a:t>We’ve had a very </a:t>
            </a:r>
            <a:r>
              <a:rPr i="1" lang="en"/>
              <a:t>conscious</a:t>
            </a:r>
            <a:r>
              <a:rPr i="1" lang="en"/>
              <a:t> amount of guests that complained </a:t>
            </a:r>
            <a:r>
              <a:rPr i="1" lang="en"/>
              <a:t>about</a:t>
            </a:r>
            <a:r>
              <a:rPr i="1" lang="en"/>
              <a:t> the kitchen orders </a:t>
            </a:r>
            <a:endParaRPr i="1"/>
          </a:p>
          <a:p>
            <a:pPr indent="0" lvl="0" marL="0" rtl="0" algn="l">
              <a:spcBef>
                <a:spcPts val="0"/>
              </a:spcBef>
              <a:spcAft>
                <a:spcPts val="0"/>
              </a:spcAft>
              <a:buNone/>
            </a:pPr>
            <a:r>
              <a:t/>
            </a:r>
            <a:endParaRPr i="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p:nvPr/>
        </p:nvSpPr>
        <p:spPr>
          <a:xfrm>
            <a:off x="78750" y="75450"/>
            <a:ext cx="8986500" cy="4992600"/>
          </a:xfrm>
          <a:prstGeom prst="rect">
            <a:avLst/>
          </a:prstGeom>
          <a:noFill/>
          <a:ln cap="flat" cmpd="sng" w="76200">
            <a:solidFill>
              <a:srgbClr val="0C71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8"/>
          <p:cNvSpPr txBox="1"/>
          <p:nvPr>
            <p:ph idx="1" type="subTitle"/>
          </p:nvPr>
        </p:nvSpPr>
        <p:spPr>
          <a:xfrm>
            <a:off x="311700" y="203250"/>
            <a:ext cx="8520600" cy="355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Second Next Step:</a:t>
            </a:r>
            <a:endParaRPr i="1"/>
          </a:p>
          <a:p>
            <a:pPr indent="0" lvl="0" marL="0" rtl="0" algn="l">
              <a:spcBef>
                <a:spcPts val="0"/>
              </a:spcBef>
              <a:spcAft>
                <a:spcPts val="0"/>
              </a:spcAft>
              <a:buNone/>
            </a:pPr>
            <a:r>
              <a:rPr i="1" lang="en"/>
              <a:t>Select </a:t>
            </a:r>
            <a:r>
              <a:rPr i="1" lang="en"/>
              <a:t>options</a:t>
            </a:r>
            <a:r>
              <a:rPr i="1" lang="en"/>
              <a:t> on payments by choosing if the customer wants to pay in cash or by card on tablets before the check out. </a:t>
            </a:r>
            <a:endParaRPr i="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